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7634310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7634310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763431006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763431006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763431006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763431006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763431006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d763431006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763431006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763431006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6343100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63431006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763431006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763431006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Capstone:</a:t>
            </a:r>
            <a:endParaRPr/>
          </a:p>
          <a:p>
            <a:pPr indent="0" lvl="0" marL="0" rtl="0" algn="l">
              <a:spcBef>
                <a:spcPts val="0"/>
              </a:spcBef>
              <a:spcAft>
                <a:spcPts val="0"/>
              </a:spcAft>
              <a:buNone/>
            </a:pPr>
            <a:r>
              <a:rPr lang="en"/>
              <a:t>Whoop Explorer</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Austin Juhl</a:t>
            </a:r>
            <a:endParaRPr b="1" sz="2400"/>
          </a:p>
        </p:txBody>
      </p:sp>
      <p:pic>
        <p:nvPicPr>
          <p:cNvPr id="74" name="Google Shape;74;p13" title="IMG_0610.PNG"/>
          <p:cNvPicPr preferRelativeResize="0"/>
          <p:nvPr/>
        </p:nvPicPr>
        <p:blipFill rotWithShape="1">
          <a:blip r:embed="rId3">
            <a:alphaModFix/>
          </a:blip>
          <a:srcRect b="11450" l="4662" r="8367" t="15621"/>
          <a:stretch/>
        </p:blipFill>
        <p:spPr>
          <a:xfrm>
            <a:off x="2436825" y="1552275"/>
            <a:ext cx="2186400" cy="670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4"/>
          <p:cNvSpPr txBox="1"/>
          <p:nvPr>
            <p:ph idx="4294967295" type="title"/>
          </p:nvPr>
        </p:nvSpPr>
        <p:spPr>
          <a:xfrm>
            <a:off x="488525" y="3681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What is Whoop?</a:t>
            </a:r>
            <a:endParaRPr sz="2400">
              <a:solidFill>
                <a:schemeClr val="lt1"/>
              </a:solidFill>
            </a:endParaRPr>
          </a:p>
        </p:txBody>
      </p:sp>
      <p:sp>
        <p:nvSpPr>
          <p:cNvPr id="80" name="Google Shape;80;p14"/>
          <p:cNvSpPr txBox="1"/>
          <p:nvPr>
            <p:ph idx="4294967295" type="title"/>
          </p:nvPr>
        </p:nvSpPr>
        <p:spPr>
          <a:xfrm>
            <a:off x="535775" y="1178075"/>
            <a:ext cx="6134700" cy="30675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WHOOP is a wearable fitness and recovery platform.</a:t>
            </a:r>
            <a:endParaRPr b="0" sz="1500">
              <a:solidFill>
                <a:schemeClr val="lt1"/>
              </a:solidFill>
              <a:latin typeface="Lato"/>
              <a:ea typeface="Lato"/>
              <a:cs typeface="Lato"/>
              <a:sym typeface="Lato"/>
            </a:endParaRPr>
          </a:p>
          <a:p>
            <a:pPr indent="-323850" lvl="0" marL="4572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Continuously tracks signals such as:</a:t>
            </a:r>
            <a:endParaRPr b="0" sz="15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heart rate</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heart rate variability (HRV)</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respiratory rate</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blood oxygen</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skin temperature</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sleep timing and sleep stages</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daily strain / exertion</a:t>
            </a:r>
            <a:endParaRPr b="0" sz="1300">
              <a:solidFill>
                <a:schemeClr val="lt1"/>
              </a:solidFill>
              <a:latin typeface="Lato"/>
              <a:ea typeface="Lato"/>
              <a:cs typeface="Lato"/>
              <a:sym typeface="Lato"/>
            </a:endParaRPr>
          </a:p>
          <a:p>
            <a:pPr indent="-323850" lvl="0" marL="4572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Allows user-entered behaviors such as</a:t>
            </a:r>
            <a:endParaRPr b="0" sz="15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Consumed alcohol or caffeine, viewed screen and/or read before bed, shared bed, was ill/sick</a:t>
            </a:r>
            <a:endParaRPr b="0" sz="1300">
              <a:solidFill>
                <a:schemeClr val="lt1"/>
              </a:solidFill>
              <a:latin typeface="Lato"/>
              <a:ea typeface="Lato"/>
              <a:cs typeface="Lato"/>
              <a:sym typeface="Lato"/>
            </a:endParaRPr>
          </a:p>
          <a:p>
            <a:pPr indent="-323850" lvl="0" marL="4572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Computes a </a:t>
            </a:r>
            <a:r>
              <a:rPr lang="en" sz="1500" u="sng">
                <a:solidFill>
                  <a:schemeClr val="lt1"/>
                </a:solidFill>
                <a:latin typeface="Lato"/>
                <a:ea typeface="Lato"/>
                <a:cs typeface="Lato"/>
                <a:sym typeface="Lato"/>
              </a:rPr>
              <a:t>daily recovery score</a:t>
            </a:r>
            <a:r>
              <a:rPr b="0" lang="en" sz="1500">
                <a:solidFill>
                  <a:schemeClr val="lt1"/>
                </a:solidFill>
                <a:latin typeface="Lato"/>
                <a:ea typeface="Lato"/>
                <a:cs typeface="Lato"/>
                <a:sym typeface="Lato"/>
              </a:rPr>
              <a:t> based on current night sleep and previous day metrics.</a:t>
            </a:r>
            <a:endParaRPr b="0" sz="1500">
              <a:solidFill>
                <a:schemeClr val="lt1"/>
              </a:solidFill>
              <a:latin typeface="Lato"/>
              <a:ea typeface="Lato"/>
              <a:cs typeface="Lato"/>
              <a:sym typeface="Lato"/>
            </a:endParaRPr>
          </a:p>
        </p:txBody>
      </p:sp>
      <p:cxnSp>
        <p:nvCxnSpPr>
          <p:cNvPr id="81" name="Google Shape;81;p14"/>
          <p:cNvCxnSpPr/>
          <p:nvPr/>
        </p:nvCxnSpPr>
        <p:spPr>
          <a:xfrm flipH="1" rot="10800000">
            <a:off x="6645425" y="1644625"/>
            <a:ext cx="1090800" cy="218100"/>
          </a:xfrm>
          <a:prstGeom prst="straightConnector1">
            <a:avLst/>
          </a:prstGeom>
          <a:noFill/>
          <a:ln cap="flat" cmpd="sng" w="38100">
            <a:solidFill>
              <a:srgbClr val="CC0000"/>
            </a:solidFill>
            <a:prstDash val="solid"/>
            <a:round/>
            <a:headEnd len="med" w="med" type="none"/>
            <a:tailEnd len="med" w="med" type="triangle"/>
          </a:ln>
        </p:spPr>
      </p:cxnSp>
      <p:pic>
        <p:nvPicPr>
          <p:cNvPr id="82" name="Google Shape;82;p14" title="Screenshot 2026-04-19 at 6.33.25 PM.png"/>
          <p:cNvPicPr preferRelativeResize="0"/>
          <p:nvPr/>
        </p:nvPicPr>
        <p:blipFill rotWithShape="1">
          <a:blip r:embed="rId3">
            <a:alphaModFix/>
          </a:blip>
          <a:srcRect b="6213" l="9257" r="11829" t="2412"/>
          <a:stretch/>
        </p:blipFill>
        <p:spPr>
          <a:xfrm>
            <a:off x="5621775" y="1136125"/>
            <a:ext cx="3415000" cy="2223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idx="4294967295" type="title"/>
          </p:nvPr>
        </p:nvSpPr>
        <p:spPr>
          <a:xfrm>
            <a:off x="535775" y="5275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Project Overview</a:t>
            </a:r>
            <a:endParaRPr sz="2400">
              <a:solidFill>
                <a:schemeClr val="lt1"/>
              </a:solidFill>
            </a:endParaRPr>
          </a:p>
        </p:txBody>
      </p:sp>
      <p:sp>
        <p:nvSpPr>
          <p:cNvPr id="88" name="Google Shape;88;p15"/>
          <p:cNvSpPr txBox="1"/>
          <p:nvPr>
            <p:ph idx="4294967295" type="title"/>
          </p:nvPr>
        </p:nvSpPr>
        <p:spPr>
          <a:xfrm>
            <a:off x="535775" y="1480150"/>
            <a:ext cx="5774100" cy="30675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Font typeface="Lato"/>
              <a:buChar char="-"/>
            </a:pPr>
            <a:r>
              <a:rPr b="0" lang="en" sz="1700">
                <a:solidFill>
                  <a:schemeClr val="lt1"/>
                </a:solidFill>
                <a:latin typeface="Lato"/>
                <a:ea typeface="Lato"/>
                <a:cs typeface="Lato"/>
                <a:sym typeface="Lato"/>
              </a:rPr>
              <a:t>Using my </a:t>
            </a:r>
            <a:r>
              <a:rPr lang="en" sz="1700" u="sng">
                <a:solidFill>
                  <a:schemeClr val="lt1"/>
                </a:solidFill>
                <a:latin typeface="Lato"/>
                <a:ea typeface="Lato"/>
                <a:cs typeface="Lato"/>
                <a:sym typeface="Lato"/>
              </a:rPr>
              <a:t>personal</a:t>
            </a:r>
            <a:r>
              <a:rPr b="0" lang="en" sz="1700">
                <a:solidFill>
                  <a:schemeClr val="lt1"/>
                </a:solidFill>
                <a:latin typeface="Lato"/>
                <a:ea typeface="Lato"/>
                <a:cs typeface="Lato"/>
                <a:sym typeface="Lato"/>
              </a:rPr>
              <a:t> WHOOP data</a:t>
            </a:r>
            <a:endParaRPr b="0" sz="1700">
              <a:solidFill>
                <a:schemeClr val="lt1"/>
              </a:solidFill>
              <a:latin typeface="Lato"/>
              <a:ea typeface="Lato"/>
              <a:cs typeface="Lato"/>
              <a:sym typeface="Lato"/>
            </a:endParaRPr>
          </a:p>
          <a:p>
            <a:pPr indent="-336550" lvl="1" marL="914400" rtl="0" algn="l">
              <a:lnSpc>
                <a:spcPct val="150000"/>
              </a:lnSpc>
              <a:spcBef>
                <a:spcPts val="0"/>
              </a:spcBef>
              <a:spcAft>
                <a:spcPts val="0"/>
              </a:spcAft>
              <a:buClr>
                <a:schemeClr val="lt1"/>
              </a:buClr>
              <a:buSzPts val="1700"/>
              <a:buFont typeface="Lato"/>
              <a:buChar char="-"/>
            </a:pPr>
            <a:r>
              <a:rPr b="0" lang="en" sz="1700">
                <a:solidFill>
                  <a:schemeClr val="lt1"/>
                </a:solidFill>
                <a:latin typeface="Lato"/>
                <a:ea typeface="Lato"/>
                <a:cs typeface="Lato"/>
                <a:sym typeface="Lato"/>
              </a:rPr>
              <a:t>Data used: March 23, 2022 to April 15, 2026</a:t>
            </a:r>
            <a:endParaRPr b="0" sz="1700">
              <a:solidFill>
                <a:schemeClr val="lt1"/>
              </a:solidFill>
              <a:latin typeface="Lato"/>
              <a:ea typeface="Lato"/>
              <a:cs typeface="Lato"/>
              <a:sym typeface="Lato"/>
            </a:endParaRPr>
          </a:p>
          <a:p>
            <a:pPr indent="-336550" lvl="0" marL="457200" rtl="0" algn="l">
              <a:lnSpc>
                <a:spcPct val="115000"/>
              </a:lnSpc>
              <a:spcBef>
                <a:spcPts val="0"/>
              </a:spcBef>
              <a:spcAft>
                <a:spcPts val="0"/>
              </a:spcAft>
              <a:buClr>
                <a:schemeClr val="lt1"/>
              </a:buClr>
              <a:buSzPts val="1700"/>
              <a:buFont typeface="Lato"/>
              <a:buChar char="-"/>
            </a:pPr>
            <a:r>
              <a:rPr b="0" lang="en" sz="1700">
                <a:solidFill>
                  <a:schemeClr val="lt1"/>
                </a:solidFill>
                <a:latin typeface="Lato"/>
                <a:ea typeface="Lato"/>
                <a:cs typeface="Lato"/>
                <a:sym typeface="Lato"/>
              </a:rPr>
              <a:t>Goals:</a:t>
            </a:r>
            <a:endParaRPr b="0" sz="1700">
              <a:solidFill>
                <a:schemeClr val="lt1"/>
              </a:solidFill>
              <a:latin typeface="Lato"/>
              <a:ea typeface="Lato"/>
              <a:cs typeface="Lato"/>
              <a:sym typeface="Lato"/>
            </a:endParaRPr>
          </a:p>
          <a:p>
            <a:pPr indent="-336550" lvl="1" marL="914400" rtl="0" algn="l">
              <a:lnSpc>
                <a:spcPct val="115000"/>
              </a:lnSpc>
              <a:spcBef>
                <a:spcPts val="0"/>
              </a:spcBef>
              <a:spcAft>
                <a:spcPts val="0"/>
              </a:spcAft>
              <a:buClr>
                <a:schemeClr val="lt1"/>
              </a:buClr>
              <a:buSzPts val="1700"/>
              <a:buFont typeface="Lato"/>
              <a:buChar char="-"/>
            </a:pPr>
            <a:r>
              <a:rPr b="0" lang="en" sz="1700">
                <a:solidFill>
                  <a:schemeClr val="lt1"/>
                </a:solidFill>
                <a:latin typeface="Lato"/>
                <a:ea typeface="Lato"/>
                <a:cs typeface="Lato"/>
                <a:sym typeface="Lato"/>
              </a:rPr>
              <a:t>Understand how recovery and other physiological metrics relate to each other and my recorded daily behaviors.</a:t>
            </a:r>
            <a:endParaRPr b="0" sz="1700">
              <a:solidFill>
                <a:schemeClr val="lt1"/>
              </a:solidFill>
              <a:latin typeface="Lato"/>
              <a:ea typeface="Lato"/>
              <a:cs typeface="Lato"/>
              <a:sym typeface="Lato"/>
            </a:endParaRPr>
          </a:p>
          <a:p>
            <a:pPr indent="-336550" lvl="1" marL="914400" rtl="0" algn="l">
              <a:lnSpc>
                <a:spcPct val="115000"/>
              </a:lnSpc>
              <a:spcBef>
                <a:spcPts val="0"/>
              </a:spcBef>
              <a:spcAft>
                <a:spcPts val="0"/>
              </a:spcAft>
              <a:buClr>
                <a:schemeClr val="lt1"/>
              </a:buClr>
              <a:buSzPts val="1700"/>
              <a:buFont typeface="Lato"/>
              <a:buChar char="-"/>
            </a:pPr>
            <a:r>
              <a:rPr b="0" lang="en" sz="1700">
                <a:solidFill>
                  <a:schemeClr val="lt1"/>
                </a:solidFill>
                <a:latin typeface="Lato"/>
                <a:ea typeface="Lato"/>
                <a:cs typeface="Lato"/>
                <a:sym typeface="Lato"/>
              </a:rPr>
              <a:t>Predict</a:t>
            </a:r>
            <a:r>
              <a:rPr b="0" lang="en" sz="1700">
                <a:solidFill>
                  <a:schemeClr val="lt1"/>
                </a:solidFill>
                <a:latin typeface="Lato"/>
                <a:ea typeface="Lato"/>
                <a:cs typeface="Lato"/>
                <a:sym typeface="Lato"/>
              </a:rPr>
              <a:t> </a:t>
            </a:r>
            <a:r>
              <a:rPr lang="en" sz="1700" u="sng">
                <a:solidFill>
                  <a:schemeClr val="lt1"/>
                </a:solidFill>
                <a:latin typeface="Lato"/>
                <a:ea typeface="Lato"/>
                <a:cs typeface="Lato"/>
                <a:sym typeface="Lato"/>
              </a:rPr>
              <a:t>next-day changes in recovery</a:t>
            </a:r>
            <a:r>
              <a:rPr b="0" lang="en" sz="1700">
                <a:solidFill>
                  <a:schemeClr val="lt1"/>
                </a:solidFill>
                <a:latin typeface="Lato"/>
                <a:ea typeface="Lato"/>
                <a:cs typeface="Lato"/>
                <a:sym typeface="Lato"/>
              </a:rPr>
              <a:t> using lagged data.</a:t>
            </a:r>
            <a:endParaRPr b="0" sz="1700">
              <a:solidFill>
                <a:schemeClr val="lt1"/>
              </a:solidFill>
              <a:latin typeface="Lato"/>
              <a:ea typeface="Lato"/>
              <a:cs typeface="Lato"/>
              <a:sym typeface="Lato"/>
            </a:endParaRPr>
          </a:p>
        </p:txBody>
      </p:sp>
      <p:pic>
        <p:nvPicPr>
          <p:cNvPr id="89" name="Google Shape;89;p15" title="IMG_0609.PNG"/>
          <p:cNvPicPr preferRelativeResize="0"/>
          <p:nvPr/>
        </p:nvPicPr>
        <p:blipFill rotWithShape="1">
          <a:blip r:embed="rId3">
            <a:alphaModFix/>
          </a:blip>
          <a:srcRect b="803" l="0" r="0" t="0"/>
          <a:stretch/>
        </p:blipFill>
        <p:spPr>
          <a:xfrm>
            <a:off x="6780700" y="20975"/>
            <a:ext cx="2363300" cy="51015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idx="4294967295" type="title"/>
          </p:nvPr>
        </p:nvSpPr>
        <p:spPr>
          <a:xfrm>
            <a:off x="535775" y="2758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Data</a:t>
            </a:r>
            <a:endParaRPr sz="2400">
              <a:solidFill>
                <a:schemeClr val="lt1"/>
              </a:solidFill>
            </a:endParaRPr>
          </a:p>
        </p:txBody>
      </p:sp>
      <p:sp>
        <p:nvSpPr>
          <p:cNvPr id="95" name="Google Shape;95;p16"/>
          <p:cNvSpPr txBox="1"/>
          <p:nvPr>
            <p:ph idx="4294967295" type="title"/>
          </p:nvPr>
        </p:nvSpPr>
        <p:spPr>
          <a:xfrm>
            <a:off x="535775" y="1077400"/>
            <a:ext cx="8224200" cy="37893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Four datasets</a:t>
            </a:r>
            <a:endParaRPr b="0" sz="1500">
              <a:solidFill>
                <a:schemeClr val="lt1"/>
              </a:solidFill>
              <a:latin typeface="Lato"/>
              <a:ea typeface="Lato"/>
              <a:cs typeface="Lato"/>
              <a:sym typeface="Lato"/>
            </a:endParaRPr>
          </a:p>
          <a:p>
            <a:pPr indent="-323850" lvl="1" marL="9144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Physiological_cycles.csv</a:t>
            </a:r>
            <a:endParaRPr b="0" sz="1500">
              <a:solidFill>
                <a:schemeClr val="lt1"/>
              </a:solidFill>
              <a:latin typeface="Lato"/>
              <a:ea typeface="Lato"/>
              <a:cs typeface="Lato"/>
              <a:sym typeface="Lato"/>
            </a:endParaRPr>
          </a:p>
          <a:p>
            <a:pPr indent="-323850" lvl="2" marL="13716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Main dataset containing all </a:t>
            </a:r>
            <a:r>
              <a:rPr b="0" lang="en" sz="1500">
                <a:solidFill>
                  <a:schemeClr val="lt1"/>
                </a:solidFill>
                <a:latin typeface="Lato"/>
                <a:ea typeface="Lato"/>
                <a:cs typeface="Lato"/>
                <a:sym typeface="Lato"/>
              </a:rPr>
              <a:t>time series</a:t>
            </a:r>
            <a:r>
              <a:rPr b="0" lang="en" sz="1500">
                <a:solidFill>
                  <a:schemeClr val="lt1"/>
                </a:solidFill>
                <a:latin typeface="Lato"/>
                <a:ea typeface="Lato"/>
                <a:cs typeface="Lato"/>
                <a:sym typeface="Lato"/>
              </a:rPr>
              <a:t> data.</a:t>
            </a:r>
            <a:endParaRPr b="0" sz="1500">
              <a:solidFill>
                <a:schemeClr val="lt1"/>
              </a:solidFill>
              <a:latin typeface="Lato"/>
              <a:ea typeface="Lato"/>
              <a:cs typeface="Lato"/>
              <a:sym typeface="Lato"/>
            </a:endParaRPr>
          </a:p>
          <a:p>
            <a:pPr indent="-323850" lvl="2" marL="1371600" rtl="0" algn="l">
              <a:lnSpc>
                <a:spcPct val="150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Each row is a cycle which starts at sleep onset and ends at the next sleep onset.</a:t>
            </a:r>
            <a:endParaRPr b="0" sz="1500">
              <a:solidFill>
                <a:schemeClr val="lt1"/>
              </a:solidFill>
              <a:latin typeface="Lato"/>
              <a:ea typeface="Lato"/>
              <a:cs typeface="Lato"/>
              <a:sym typeface="Lato"/>
            </a:endParaRPr>
          </a:p>
          <a:p>
            <a:pPr indent="-323850" lvl="1" marL="9144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Workouts.csv</a:t>
            </a:r>
            <a:endParaRPr b="0" sz="1500">
              <a:solidFill>
                <a:schemeClr val="lt1"/>
              </a:solidFill>
              <a:latin typeface="Lato"/>
              <a:ea typeface="Lato"/>
              <a:cs typeface="Lato"/>
              <a:sym typeface="Lato"/>
            </a:endParaRPr>
          </a:p>
          <a:p>
            <a:pPr indent="-323850" lvl="2" marL="13716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Workouts and duration in different heart rate zones</a:t>
            </a:r>
            <a:endParaRPr b="0" sz="1500">
              <a:solidFill>
                <a:schemeClr val="lt1"/>
              </a:solidFill>
              <a:latin typeface="Lato"/>
              <a:ea typeface="Lato"/>
              <a:cs typeface="Lato"/>
              <a:sym typeface="Lato"/>
            </a:endParaRPr>
          </a:p>
          <a:p>
            <a:pPr indent="-323850" lvl="2" marL="1371600" rtl="0" algn="l">
              <a:lnSpc>
                <a:spcPct val="150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Turned into an Activity boolean indicating if I did an activity that cycle</a:t>
            </a:r>
            <a:endParaRPr b="0" sz="1500">
              <a:solidFill>
                <a:schemeClr val="lt1"/>
              </a:solidFill>
              <a:latin typeface="Lato"/>
              <a:ea typeface="Lato"/>
              <a:cs typeface="Lato"/>
              <a:sym typeface="Lato"/>
            </a:endParaRPr>
          </a:p>
          <a:p>
            <a:pPr indent="-323850" lvl="1" marL="914400" rtl="0" algn="l">
              <a:lnSpc>
                <a:spcPct val="115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Journal_entries.csv</a:t>
            </a:r>
            <a:endParaRPr b="0" sz="1500">
              <a:solidFill>
                <a:schemeClr val="lt1"/>
              </a:solidFill>
              <a:latin typeface="Lato"/>
              <a:ea typeface="Lato"/>
              <a:cs typeface="Lato"/>
              <a:sym typeface="Lato"/>
            </a:endParaRPr>
          </a:p>
          <a:p>
            <a:pPr indent="-323850" lvl="2" marL="1371600" rtl="0" algn="l">
              <a:lnSpc>
                <a:spcPct val="150000"/>
              </a:lnSpc>
              <a:spcBef>
                <a:spcPts val="0"/>
              </a:spcBef>
              <a:spcAft>
                <a:spcPts val="0"/>
              </a:spcAft>
              <a:buClr>
                <a:schemeClr val="lt1"/>
              </a:buClr>
              <a:buSzPts val="1500"/>
              <a:buFont typeface="Lato"/>
              <a:buChar char="-"/>
            </a:pPr>
            <a:r>
              <a:rPr b="0" lang="en" sz="1500">
                <a:solidFill>
                  <a:schemeClr val="lt1"/>
                </a:solidFill>
                <a:latin typeface="Lato"/>
                <a:ea typeface="Lato"/>
                <a:cs typeface="Lato"/>
                <a:sym typeface="Lato"/>
              </a:rPr>
              <a:t>All recorded behaviors</a:t>
            </a:r>
            <a:endParaRPr b="0" sz="1800">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idx="4294967295" type="title"/>
          </p:nvPr>
        </p:nvSpPr>
        <p:spPr>
          <a:xfrm>
            <a:off x="535775" y="2758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Data [Cleaning]</a:t>
            </a:r>
            <a:endParaRPr sz="2400">
              <a:solidFill>
                <a:schemeClr val="lt1"/>
              </a:solidFill>
            </a:endParaRPr>
          </a:p>
        </p:txBody>
      </p:sp>
      <p:sp>
        <p:nvSpPr>
          <p:cNvPr id="101" name="Google Shape;101;p17"/>
          <p:cNvSpPr txBox="1"/>
          <p:nvPr>
            <p:ph idx="4294967295" type="title"/>
          </p:nvPr>
        </p:nvSpPr>
        <p:spPr>
          <a:xfrm>
            <a:off x="535775" y="1077400"/>
            <a:ext cx="8224200" cy="37893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Convert timestamps to UTC</a:t>
            </a:r>
            <a:endParaRPr b="0" sz="1300">
              <a:solidFill>
                <a:schemeClr val="lt1"/>
              </a:solidFill>
              <a:latin typeface="Lato"/>
              <a:ea typeface="Lato"/>
              <a:cs typeface="Lato"/>
              <a:sym typeface="Lato"/>
            </a:endParaRPr>
          </a:p>
          <a:p>
            <a:pPr indent="-298450" lvl="1" marL="914400" rtl="0" algn="l">
              <a:lnSpc>
                <a:spcPct val="150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Raw data was in different time zones</a:t>
            </a:r>
            <a:endParaRPr b="0" sz="11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Trim data to earliest date with valid blood oxygen and skin temperature measurements</a:t>
            </a:r>
            <a:endParaRPr b="0" sz="1300">
              <a:solidFill>
                <a:schemeClr val="lt1"/>
              </a:solidFill>
              <a:latin typeface="Lato"/>
              <a:ea typeface="Lato"/>
              <a:cs typeface="Lato"/>
              <a:sym typeface="Lato"/>
            </a:endParaRPr>
          </a:p>
          <a:p>
            <a:pPr indent="-298450" lvl="1" marL="914400" rtl="0" algn="l">
              <a:lnSpc>
                <a:spcPct val="150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I started using Whoop in December 2020, but they </a:t>
            </a:r>
            <a:r>
              <a:rPr b="0" lang="en" sz="1100">
                <a:solidFill>
                  <a:schemeClr val="lt1"/>
                </a:solidFill>
                <a:latin typeface="Lato"/>
                <a:ea typeface="Lato"/>
                <a:cs typeface="Lato"/>
                <a:sym typeface="Lato"/>
              </a:rPr>
              <a:t>didn't</a:t>
            </a:r>
            <a:r>
              <a:rPr b="0" lang="en" sz="1100">
                <a:solidFill>
                  <a:schemeClr val="lt1"/>
                </a:solidFill>
                <a:latin typeface="Lato"/>
                <a:ea typeface="Lato"/>
                <a:cs typeface="Lato"/>
                <a:sym typeface="Lato"/>
              </a:rPr>
              <a:t> have some features at that time</a:t>
            </a:r>
            <a:endParaRPr b="0" sz="11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Collected a lot of behaviors in a journal, but filtered down to the ones with the least amount of NaNs.</a:t>
            </a:r>
            <a:endParaRPr b="0" sz="1300">
              <a:solidFill>
                <a:schemeClr val="lt1"/>
              </a:solidFill>
              <a:latin typeface="Lato"/>
              <a:ea typeface="Lato"/>
              <a:cs typeface="Lato"/>
              <a:sym typeface="Lato"/>
            </a:endParaRPr>
          </a:p>
          <a:p>
            <a:pPr indent="-298450" lvl="1" marL="914400" rtl="0" algn="l">
              <a:lnSpc>
                <a:spcPct val="150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Alcohol, caffeine, screen in bed, reading a book in bed, shared bed, sick/ill</a:t>
            </a:r>
            <a:endParaRPr b="0" sz="1100">
              <a:solidFill>
                <a:schemeClr val="lt1"/>
              </a:solidFill>
              <a:latin typeface="Lato"/>
              <a:ea typeface="Lato"/>
              <a:cs typeface="Lato"/>
              <a:sym typeface="Lato"/>
            </a:endParaRPr>
          </a:p>
          <a:p>
            <a:pPr indent="-311150" lvl="0" marL="457200" rtl="0" algn="l">
              <a:lnSpc>
                <a:spcPct val="150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Pivoted journal into wide features and add Activity from workout datasets, then merged with main cycles dataset.</a:t>
            </a:r>
            <a:endParaRPr b="0"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Identified gaps in data</a:t>
            </a:r>
            <a:endParaRPr b="0" sz="1300">
              <a:solidFill>
                <a:schemeClr val="lt1"/>
              </a:solidFill>
              <a:latin typeface="Lato"/>
              <a:ea typeface="Lato"/>
              <a:cs typeface="Lato"/>
              <a:sym typeface="Lato"/>
            </a:endParaRPr>
          </a:p>
          <a:p>
            <a:pPr indent="-298450" lvl="1" marL="9144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There were periods where I would lose my charger.</a:t>
            </a:r>
            <a:endParaRPr b="0" sz="1100">
              <a:solidFill>
                <a:schemeClr val="lt1"/>
              </a:solidFill>
              <a:latin typeface="Lato"/>
              <a:ea typeface="Lato"/>
              <a:cs typeface="Lato"/>
              <a:sym typeface="Lato"/>
            </a:endParaRPr>
          </a:p>
          <a:p>
            <a:pPr indent="-298450" lvl="1" marL="914400" rtl="0" algn="l">
              <a:lnSpc>
                <a:spcPct val="150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I removed anomalous rows around those gaps as well.</a:t>
            </a:r>
            <a:endParaRPr b="0" sz="1100">
              <a:solidFill>
                <a:schemeClr val="lt1"/>
              </a:solidFill>
              <a:latin typeface="Lato"/>
              <a:ea typeface="Lato"/>
              <a:cs typeface="Lato"/>
              <a:sym typeface="Lato"/>
            </a:endParaRPr>
          </a:p>
          <a:p>
            <a:pPr indent="-311150" lvl="0" marL="457200" rtl="0" algn="l">
              <a:lnSpc>
                <a:spcPct val="150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Small Gaps: interpolate numerical, front/back fill categorical</a:t>
            </a:r>
            <a:endParaRPr b="0"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Large Gaps: labeled sections of continuous data then compute lags in sections so that they don’t jump gaps</a:t>
            </a:r>
            <a:endParaRPr b="0"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idx="4294967295" type="title"/>
          </p:nvPr>
        </p:nvSpPr>
        <p:spPr>
          <a:xfrm>
            <a:off x="2836200" y="1860925"/>
            <a:ext cx="34716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5600">
                <a:solidFill>
                  <a:schemeClr val="lt1"/>
                </a:solidFill>
              </a:rPr>
              <a:t>[ Demo ]</a:t>
            </a:r>
            <a:endParaRPr sz="44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idx="4294967295" type="title"/>
          </p:nvPr>
        </p:nvSpPr>
        <p:spPr>
          <a:xfrm>
            <a:off x="535775" y="2758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Data [Analysis]</a:t>
            </a:r>
            <a:endParaRPr sz="2400">
              <a:solidFill>
                <a:schemeClr val="lt1"/>
              </a:solidFill>
            </a:endParaRPr>
          </a:p>
        </p:txBody>
      </p:sp>
      <p:sp>
        <p:nvSpPr>
          <p:cNvPr id="112" name="Google Shape;112;p19"/>
          <p:cNvSpPr txBox="1"/>
          <p:nvPr>
            <p:ph idx="4294967295" type="title"/>
          </p:nvPr>
        </p:nvSpPr>
        <p:spPr>
          <a:xfrm>
            <a:off x="217800" y="957325"/>
            <a:ext cx="4664100" cy="39093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Select a metric, time window, and number of correlations you want to see</a:t>
            </a:r>
            <a:endParaRPr b="0" sz="11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Plots</a:t>
            </a:r>
            <a:endParaRPr b="0" sz="11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Metric over selected time</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Distribution for selected time</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Correlation coefficients for selected time</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Box and </a:t>
            </a:r>
            <a:r>
              <a:rPr b="0" lang="en" sz="900">
                <a:solidFill>
                  <a:schemeClr val="lt1"/>
                </a:solidFill>
                <a:latin typeface="Lato"/>
                <a:ea typeface="Lato"/>
                <a:cs typeface="Lato"/>
                <a:sym typeface="Lato"/>
              </a:rPr>
              <a:t>Whiskers</a:t>
            </a:r>
            <a:r>
              <a:rPr b="0" lang="en" sz="900">
                <a:solidFill>
                  <a:schemeClr val="lt1"/>
                </a:solidFill>
                <a:latin typeface="Lato"/>
                <a:ea typeface="Lato"/>
                <a:cs typeface="Lato"/>
                <a:sym typeface="Lato"/>
              </a:rPr>
              <a:t> showing impact of categorical “habits” on selected metric</a:t>
            </a:r>
            <a:endParaRPr b="0" sz="9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Recovery Insights</a:t>
            </a:r>
            <a:endParaRPr b="0" sz="11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All Time plot shows an increase in recovery at the beginning of 2024 and sharp decline at the end of 2024</a:t>
            </a:r>
            <a:endParaRPr b="0" sz="900">
              <a:solidFill>
                <a:schemeClr val="lt1"/>
              </a:solidFill>
              <a:latin typeface="Lato"/>
              <a:ea typeface="Lato"/>
              <a:cs typeface="Lato"/>
              <a:sym typeface="Lato"/>
            </a:endParaRPr>
          </a:p>
          <a:p>
            <a:pPr indent="-285750" lvl="2" marL="13716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Corresponds to pre-dissertation defense when I was very regimented and disciplined then the decline in recovery occurs after my defense where I started going out and having more fun with my friends and family.</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Heart rate variability has a string positive correlation with recovery.</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Resting heart rate has a strong negative correlation with recovery.</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Recovery is ~20% worse when I drink alcohol</a:t>
            </a:r>
            <a:endParaRPr b="0" sz="900">
              <a:solidFill>
                <a:schemeClr val="lt1"/>
              </a:solidFill>
              <a:latin typeface="Lato"/>
              <a:ea typeface="Lato"/>
              <a:cs typeface="Lato"/>
              <a:sym typeface="Lato"/>
            </a:endParaRPr>
          </a:p>
          <a:p>
            <a:pPr indent="0" lvl="0" marL="0" rtl="0" algn="l">
              <a:lnSpc>
                <a:spcPct val="115000"/>
              </a:lnSpc>
              <a:spcBef>
                <a:spcPts val="1600"/>
              </a:spcBef>
              <a:spcAft>
                <a:spcPts val="1600"/>
              </a:spcAft>
              <a:buNone/>
            </a:pPr>
            <a:r>
              <a:t/>
            </a:r>
            <a:endParaRPr b="0" sz="1000">
              <a:solidFill>
                <a:schemeClr val="lt1"/>
              </a:solidFill>
              <a:latin typeface="Lato"/>
              <a:ea typeface="Lato"/>
              <a:cs typeface="Lato"/>
              <a:sym typeface="Lato"/>
            </a:endParaRPr>
          </a:p>
        </p:txBody>
      </p:sp>
      <p:pic>
        <p:nvPicPr>
          <p:cNvPr id="113" name="Google Shape;113;p19" title="Screenshot 2026-04-19 at 7.17.02 PM.png"/>
          <p:cNvPicPr preferRelativeResize="0"/>
          <p:nvPr/>
        </p:nvPicPr>
        <p:blipFill rotWithShape="1">
          <a:blip r:embed="rId3">
            <a:alphaModFix/>
          </a:blip>
          <a:srcRect b="0" l="1064" r="2196" t="0"/>
          <a:stretch/>
        </p:blipFill>
        <p:spPr>
          <a:xfrm>
            <a:off x="4797575" y="0"/>
            <a:ext cx="434642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4294967295" type="title"/>
          </p:nvPr>
        </p:nvSpPr>
        <p:spPr>
          <a:xfrm>
            <a:off x="535775" y="2758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Model</a:t>
            </a:r>
            <a:endParaRPr sz="2400">
              <a:solidFill>
                <a:schemeClr val="lt1"/>
              </a:solidFill>
            </a:endParaRPr>
          </a:p>
        </p:txBody>
      </p:sp>
      <p:sp>
        <p:nvSpPr>
          <p:cNvPr id="119" name="Google Shape;119;p20"/>
          <p:cNvSpPr txBox="1"/>
          <p:nvPr>
            <p:ph idx="4294967295" type="title"/>
          </p:nvPr>
        </p:nvSpPr>
        <p:spPr>
          <a:xfrm>
            <a:off x="217800" y="957325"/>
            <a:ext cx="4707900" cy="39093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Predict: next-day change in recovery</a:t>
            </a:r>
            <a:endParaRPr b="0"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Features include current and 3 day lag for:</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Recovery score, Heart rate variability, Day Strain, Average HR, Sleep performance, Sleep consistency, Respiratory rate, Asleep duration, Alcohol</a:t>
            </a:r>
            <a:endParaRPr b="0"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80/20 Test/Train Chronological Split</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1164 training cycles</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292 testing cycles</a:t>
            </a:r>
            <a:endParaRPr b="0" sz="1300">
              <a:solidFill>
                <a:schemeClr val="lt1"/>
              </a:solidFill>
              <a:latin typeface="Lato"/>
              <a:ea typeface="Lato"/>
              <a:cs typeface="Lato"/>
              <a:sym typeface="Lato"/>
            </a:endParaRPr>
          </a:p>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Models</a:t>
            </a:r>
            <a:endParaRPr b="0" sz="1300">
              <a:solidFill>
                <a:schemeClr val="lt1"/>
              </a:solidFill>
              <a:latin typeface="Lato"/>
              <a:ea typeface="Lato"/>
              <a:cs typeface="Lato"/>
              <a:sym typeface="Lato"/>
            </a:endParaRPr>
          </a:p>
          <a:p>
            <a:pPr indent="0" lvl="0" marL="0" rtl="0" algn="l">
              <a:lnSpc>
                <a:spcPct val="115000"/>
              </a:lnSpc>
              <a:spcBef>
                <a:spcPts val="1600"/>
              </a:spcBef>
              <a:spcAft>
                <a:spcPts val="0"/>
              </a:spcAft>
              <a:buNone/>
            </a:pPr>
            <a:r>
              <a:t/>
            </a:r>
            <a:endParaRPr b="0" sz="1100">
              <a:solidFill>
                <a:schemeClr val="lt1"/>
              </a:solidFill>
              <a:latin typeface="Lato"/>
              <a:ea typeface="Lato"/>
              <a:cs typeface="Lato"/>
              <a:sym typeface="Lato"/>
            </a:endParaRPr>
          </a:p>
          <a:p>
            <a:pPr indent="0" lvl="0" marL="0" rtl="0" algn="l">
              <a:lnSpc>
                <a:spcPct val="115000"/>
              </a:lnSpc>
              <a:spcBef>
                <a:spcPts val="1600"/>
              </a:spcBef>
              <a:spcAft>
                <a:spcPts val="1600"/>
              </a:spcAft>
              <a:buNone/>
            </a:pPr>
            <a:r>
              <a:t/>
            </a:r>
            <a:endParaRPr b="0" sz="1000">
              <a:solidFill>
                <a:schemeClr val="lt1"/>
              </a:solidFill>
              <a:latin typeface="Lato"/>
              <a:ea typeface="Lato"/>
              <a:cs typeface="Lato"/>
              <a:sym typeface="Lato"/>
            </a:endParaRPr>
          </a:p>
        </p:txBody>
      </p:sp>
      <p:pic>
        <p:nvPicPr>
          <p:cNvPr id="120" name="Google Shape;120;p20" title="Screenshot 2026-04-19 at 7.30.52 PM.png"/>
          <p:cNvPicPr preferRelativeResize="0"/>
          <p:nvPr/>
        </p:nvPicPr>
        <p:blipFill>
          <a:blip r:embed="rId3">
            <a:alphaModFix/>
          </a:blip>
          <a:stretch>
            <a:fillRect/>
          </a:stretch>
        </p:blipFill>
        <p:spPr>
          <a:xfrm>
            <a:off x="380921" y="3349925"/>
            <a:ext cx="4461029" cy="1407800"/>
          </a:xfrm>
          <a:prstGeom prst="rect">
            <a:avLst/>
          </a:prstGeom>
          <a:noFill/>
          <a:ln>
            <a:noFill/>
          </a:ln>
        </p:spPr>
      </p:pic>
      <p:sp>
        <p:nvSpPr>
          <p:cNvPr id="121" name="Google Shape;121;p20"/>
          <p:cNvSpPr txBox="1"/>
          <p:nvPr>
            <p:ph idx="4294967295" type="title"/>
          </p:nvPr>
        </p:nvSpPr>
        <p:spPr>
          <a:xfrm>
            <a:off x="4841950" y="848425"/>
            <a:ext cx="4163400" cy="3909300"/>
          </a:xfrm>
          <a:prstGeom prst="rect">
            <a:avLst/>
          </a:prstGeom>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Main Takeaways</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Both learned models beat the naive baseline</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Linear regression performed slightly better than </a:t>
            </a:r>
            <a:r>
              <a:rPr b="0" lang="en" sz="1300">
                <a:solidFill>
                  <a:schemeClr val="lt1"/>
                </a:solidFill>
                <a:latin typeface="Lato"/>
                <a:ea typeface="Lato"/>
                <a:cs typeface="Lato"/>
                <a:sym typeface="Lato"/>
              </a:rPr>
              <a:t>random</a:t>
            </a:r>
            <a:r>
              <a:rPr b="0" lang="en" sz="1300">
                <a:solidFill>
                  <a:schemeClr val="lt1"/>
                </a:solidFill>
                <a:latin typeface="Lato"/>
                <a:ea typeface="Lato"/>
                <a:cs typeface="Lato"/>
                <a:sym typeface="Lato"/>
              </a:rPr>
              <a:t> forest on the test set</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It’s strange to me that the simpler model (Linear) performed slightly better than the more flexible model (Random Forest)</a:t>
            </a:r>
            <a:endParaRPr b="0" sz="1300">
              <a:solidFill>
                <a:schemeClr val="lt1"/>
              </a:solidFill>
              <a:latin typeface="Lato"/>
              <a:ea typeface="Lato"/>
              <a:cs typeface="Lato"/>
              <a:sym typeface="Lato"/>
            </a:endParaRPr>
          </a:p>
          <a:p>
            <a:pPr indent="-311150" lvl="1" marL="9144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Neither model performs particularly great.</a:t>
            </a:r>
            <a:endParaRPr b="0" sz="1300">
              <a:solidFill>
                <a:schemeClr val="lt1"/>
              </a:solidFill>
              <a:latin typeface="Lato"/>
              <a:ea typeface="Lato"/>
              <a:cs typeface="Lato"/>
              <a:sym typeface="Lato"/>
            </a:endParaRPr>
          </a:p>
          <a:p>
            <a:pPr indent="-311150" lvl="2" marL="1371600" rtl="0" algn="l">
              <a:lnSpc>
                <a:spcPct val="115000"/>
              </a:lnSpc>
              <a:spcBef>
                <a:spcPts val="0"/>
              </a:spcBef>
              <a:spcAft>
                <a:spcPts val="0"/>
              </a:spcAft>
              <a:buClr>
                <a:schemeClr val="lt1"/>
              </a:buClr>
              <a:buSzPts val="1300"/>
              <a:buFont typeface="Lato"/>
              <a:buChar char="-"/>
            </a:pPr>
            <a:r>
              <a:rPr b="0" lang="en" sz="1300">
                <a:solidFill>
                  <a:schemeClr val="lt1"/>
                </a:solidFill>
                <a:latin typeface="Lato"/>
                <a:ea typeface="Lato"/>
                <a:cs typeface="Lato"/>
                <a:sym typeface="Lato"/>
              </a:rPr>
              <a:t>I believe </a:t>
            </a:r>
            <a:r>
              <a:rPr b="0" lang="en" sz="1300">
                <a:solidFill>
                  <a:schemeClr val="lt1"/>
                </a:solidFill>
                <a:latin typeface="Lato"/>
                <a:ea typeface="Lato"/>
                <a:cs typeface="Lato"/>
                <a:sym typeface="Lato"/>
              </a:rPr>
              <a:t>next</a:t>
            </a:r>
            <a:r>
              <a:rPr b="0" lang="en" sz="1300">
                <a:solidFill>
                  <a:schemeClr val="lt1"/>
                </a:solidFill>
                <a:latin typeface="Lato"/>
                <a:ea typeface="Lato"/>
                <a:cs typeface="Lato"/>
                <a:sym typeface="Lato"/>
              </a:rPr>
              <a:t> day recovery is typically computed with next day sleep metrics which I did not use</a:t>
            </a:r>
            <a:endParaRPr b="0" sz="1300">
              <a:solidFill>
                <a:schemeClr val="lt1"/>
              </a:solidFill>
              <a:latin typeface="Lato"/>
              <a:ea typeface="Lato"/>
              <a:cs typeface="Lato"/>
              <a:sym typeface="Lato"/>
            </a:endParaRPr>
          </a:p>
          <a:p>
            <a:pPr indent="0" lvl="0" marL="0" rtl="0" algn="l">
              <a:lnSpc>
                <a:spcPct val="115000"/>
              </a:lnSpc>
              <a:spcBef>
                <a:spcPts val="1600"/>
              </a:spcBef>
              <a:spcAft>
                <a:spcPts val="0"/>
              </a:spcAft>
              <a:buNone/>
            </a:pPr>
            <a:r>
              <a:t/>
            </a:r>
            <a:endParaRPr b="0" sz="1100">
              <a:solidFill>
                <a:schemeClr val="lt1"/>
              </a:solidFill>
              <a:latin typeface="Lato"/>
              <a:ea typeface="Lato"/>
              <a:cs typeface="Lato"/>
              <a:sym typeface="Lato"/>
            </a:endParaRPr>
          </a:p>
          <a:p>
            <a:pPr indent="0" lvl="0" marL="0" rtl="0" algn="l">
              <a:lnSpc>
                <a:spcPct val="115000"/>
              </a:lnSpc>
              <a:spcBef>
                <a:spcPts val="1600"/>
              </a:spcBef>
              <a:spcAft>
                <a:spcPts val="1600"/>
              </a:spcAft>
              <a:buNone/>
            </a:pPr>
            <a:r>
              <a:t/>
            </a:r>
            <a:endParaRPr b="0" sz="10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4294967295" type="title"/>
          </p:nvPr>
        </p:nvSpPr>
        <p:spPr>
          <a:xfrm>
            <a:off x="535775" y="2758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Model</a:t>
            </a:r>
            <a:r>
              <a:rPr lang="en" sz="3600">
                <a:solidFill>
                  <a:schemeClr val="lt1"/>
                </a:solidFill>
              </a:rPr>
              <a:t> [Analysis]</a:t>
            </a:r>
            <a:endParaRPr sz="2400">
              <a:solidFill>
                <a:schemeClr val="lt1"/>
              </a:solidFill>
            </a:endParaRPr>
          </a:p>
        </p:txBody>
      </p:sp>
      <p:sp>
        <p:nvSpPr>
          <p:cNvPr id="127" name="Google Shape;127;p21"/>
          <p:cNvSpPr txBox="1"/>
          <p:nvPr>
            <p:ph idx="4294967295" type="title"/>
          </p:nvPr>
        </p:nvSpPr>
        <p:spPr>
          <a:xfrm>
            <a:off x="217800" y="957325"/>
            <a:ext cx="5447100" cy="39093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Select a model and a split</a:t>
            </a:r>
            <a:endParaRPr b="0" sz="11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Plots</a:t>
            </a:r>
            <a:endParaRPr b="0" sz="11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Next-day recovery over time</a:t>
            </a:r>
            <a:endParaRPr b="0" sz="900">
              <a:solidFill>
                <a:schemeClr val="lt1"/>
              </a:solidFill>
              <a:latin typeface="Lato"/>
              <a:ea typeface="Lato"/>
              <a:cs typeface="Lato"/>
              <a:sym typeface="Lato"/>
            </a:endParaRPr>
          </a:p>
          <a:p>
            <a:pPr indent="-285750" lvl="2" marL="13716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Predicted and actual</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Residuals over time</a:t>
            </a:r>
            <a:endParaRPr b="0" sz="900">
              <a:solidFill>
                <a:schemeClr val="lt1"/>
              </a:solidFill>
              <a:latin typeface="Lato"/>
              <a:ea typeface="Lato"/>
              <a:cs typeface="Lato"/>
              <a:sym typeface="Lato"/>
            </a:endParaRPr>
          </a:p>
          <a:p>
            <a:pPr indent="-285750" lvl="2" marL="13716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Raw and smoothed</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Actual vs predicted change</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Residual vs predicted change</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Distribution of residuals and feature/coefficient importance</a:t>
            </a:r>
            <a:endParaRPr b="0" sz="9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b="0" lang="en" sz="1100">
                <a:solidFill>
                  <a:schemeClr val="lt1"/>
                </a:solidFill>
                <a:latin typeface="Lato"/>
                <a:ea typeface="Lato"/>
                <a:cs typeface="Lato"/>
                <a:sym typeface="Lato"/>
              </a:rPr>
              <a:t>Recovery Insights</a:t>
            </a:r>
            <a:endParaRPr b="0" sz="11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Time series plots show the Random Forest model doesn’t predict big </a:t>
            </a:r>
            <a:r>
              <a:rPr b="0" lang="en" sz="900">
                <a:solidFill>
                  <a:schemeClr val="lt1"/>
                </a:solidFill>
                <a:latin typeface="Lato"/>
                <a:ea typeface="Lato"/>
                <a:cs typeface="Lato"/>
                <a:sym typeface="Lato"/>
              </a:rPr>
              <a:t>changes</a:t>
            </a:r>
            <a:r>
              <a:rPr b="0" lang="en" sz="900">
                <a:solidFill>
                  <a:schemeClr val="lt1"/>
                </a:solidFill>
                <a:latin typeface="Lato"/>
                <a:ea typeface="Lato"/>
                <a:cs typeface="Lato"/>
                <a:sym typeface="Lato"/>
              </a:rPr>
              <a:t> in recovery very well</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In actual vs predicted change scatter, we would hope to see the scatter hug the 45 degree dashed red line, but the scatter is more spread out and is slightly flatter than it should be.</a:t>
            </a:r>
            <a:endParaRPr b="0" sz="900">
              <a:solidFill>
                <a:schemeClr val="lt1"/>
              </a:solidFill>
              <a:latin typeface="Lato"/>
              <a:ea typeface="Lato"/>
              <a:cs typeface="Lato"/>
              <a:sym typeface="Lato"/>
            </a:endParaRPr>
          </a:p>
          <a:p>
            <a:pPr indent="-285750" lvl="2" marL="13716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Meaning we under predict big increases and decreases.</a:t>
            </a:r>
            <a:endParaRPr b="0" sz="900">
              <a:solidFill>
                <a:schemeClr val="lt1"/>
              </a:solidFill>
              <a:latin typeface="Lato"/>
              <a:ea typeface="Lato"/>
              <a:cs typeface="Lato"/>
              <a:sym typeface="Lato"/>
            </a:endParaRPr>
          </a:p>
          <a:p>
            <a:pPr indent="-285750" lvl="1" marL="914400" rtl="0" algn="l">
              <a:lnSpc>
                <a:spcPct val="115000"/>
              </a:lnSpc>
              <a:spcBef>
                <a:spcPts val="0"/>
              </a:spcBef>
              <a:spcAft>
                <a:spcPts val="0"/>
              </a:spcAft>
              <a:buClr>
                <a:schemeClr val="lt1"/>
              </a:buClr>
              <a:buSzPts val="900"/>
              <a:buFont typeface="Lato"/>
              <a:buChar char="-"/>
            </a:pPr>
            <a:r>
              <a:rPr b="0" lang="en" sz="900">
                <a:solidFill>
                  <a:schemeClr val="lt1"/>
                </a:solidFill>
                <a:latin typeface="Lato"/>
                <a:ea typeface="Lato"/>
                <a:cs typeface="Lato"/>
                <a:sym typeface="Lato"/>
              </a:rPr>
              <a:t>Previous day recovery and average hr show the highest feature importance.</a:t>
            </a:r>
            <a:endParaRPr b="0" sz="900">
              <a:solidFill>
                <a:schemeClr val="lt1"/>
              </a:solidFill>
              <a:latin typeface="Lato"/>
              <a:ea typeface="Lato"/>
              <a:cs typeface="Lato"/>
              <a:sym typeface="Lato"/>
            </a:endParaRPr>
          </a:p>
        </p:txBody>
      </p:sp>
      <p:pic>
        <p:nvPicPr>
          <p:cNvPr id="128" name="Google Shape;128;p21" title="Screenshot 2026-04-19 at 7.46.25 PM.png"/>
          <p:cNvPicPr preferRelativeResize="0"/>
          <p:nvPr/>
        </p:nvPicPr>
        <p:blipFill>
          <a:blip r:embed="rId3">
            <a:alphaModFix/>
          </a:blip>
          <a:stretch>
            <a:fillRect/>
          </a:stretch>
        </p:blipFill>
        <p:spPr>
          <a:xfrm>
            <a:off x="5844100" y="0"/>
            <a:ext cx="32999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